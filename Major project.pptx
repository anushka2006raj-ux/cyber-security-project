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Participants</c:v>
                </c:pt>
              </c:strCache>
            </c:strRef>
          </c:tx>
          <c:spPr>
            <a:solidFill>
              <a:srgbClr val="6F4DD6"/>
            </a:solidFill>
            <a:ln>
              <a:solidFill>
                <a:srgbClr val="6F4DD6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Opened</c:v>
                </c:pt>
                <c:pt idx="1">
                  <c:v>Clicked</c:v>
                </c:pt>
                <c:pt idx="2">
                  <c:v>Reported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6F4DD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055-4423-8040-C2C5AF83F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MAJOR PROJECT • CYBER SECURITY</a:t>
            </a:r>
          </a:p>
        </p:txBody>
      </p:sp>
      <p:sp>
        <p:nvSpPr>
          <p:cNvPr id="5" name="Hexagon 4"/>
          <p:cNvSpPr/>
          <p:nvPr/>
        </p:nvSpPr>
        <p:spPr>
          <a:xfrm>
            <a:off x="8732520" y="1051560"/>
            <a:ext cx="2148840" cy="2468880"/>
          </a:xfrm>
          <a:prstGeom prst="hexagon">
            <a:avLst/>
          </a:prstGeom>
          <a:solidFill>
            <a:srgbClr val="6F4DD6"/>
          </a:solidFill>
          <a:ln>
            <a:solidFill>
              <a:srgbClr val="91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06840" y="1508760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5F7FF"/>
                </a:solidFill>
                <a:latin typeface="Aptos"/>
              </a:defRPr>
            </a:pPr>
            <a:r>
              <a:t>CYBER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99339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7D3E2"/>
                </a:solidFill>
                <a:latin typeface="Aptos"/>
              </a:defRPr>
            </a:pPr>
            <a:r>
              <a:t>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44144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  <a:latin typeface="Aptos"/>
              </a:defRPr>
            </a:pPr>
            <a:r>
              <a:t>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D3E2"/>
                </a:solidFill>
                <a:latin typeface="Aptos"/>
              </a:defRPr>
            </a:pPr>
            <a:r>
              <a:t>MAJOR PROJECT •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7772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5F7FF"/>
                </a:solidFill>
                <a:latin typeface="Aptos"/>
              </a:defRPr>
            </a:pPr>
            <a:r>
              <a:t>Phishing Awareness</a:t>
            </a:r>
            <a:br/>
            <a:r>
              <a:t>Simulation Using Social Engineering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2900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5BCD6"/>
                </a:solidFill>
                <a:latin typeface="Aptos"/>
              </a:defRPr>
            </a:pPr>
            <a:r>
              <a:t>Controlled simulation • user awareness • defensive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4160520"/>
            <a:ext cx="1920240" cy="310896"/>
          </a:xfrm>
          <a:prstGeom prst="round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52928" y="4160520"/>
            <a:ext cx="1508760" cy="310896"/>
          </a:xfrm>
          <a:prstGeom prst="round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89704" y="4160520"/>
            <a:ext cx="1783080" cy="310896"/>
          </a:xfrm>
          <a:prstGeom prst="roundRect">
            <a:avLst/>
          </a:prstGeom>
          <a:solidFill>
            <a:srgbClr val="1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6126480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  <a:latin typeface="Aptos"/>
              </a:defRPr>
            </a:pPr>
            <a:r>
              <a:rPr lang="en-US" dirty="0" err="1"/>
              <a:t>N</a:t>
            </a:r>
            <a:r>
              <a:rPr dirty="0" err="1"/>
              <a:t>aviotech</a:t>
            </a:r>
            <a:r>
              <a:rPr dirty="0"/>
              <a:t> Solution Pvt. Ltd.</a:t>
            </a:r>
            <a:endParaRPr lang="en-US" dirty="0"/>
          </a:p>
          <a:p>
            <a:pPr algn="l">
              <a:defRPr sz="1500" b="1">
                <a:solidFill>
                  <a:srgbClr val="F5F7FF"/>
                </a:solidFill>
                <a:latin typeface="Aptos"/>
              </a:defRPr>
            </a:pPr>
            <a:endParaRPr lang="en-US" dirty="0"/>
          </a:p>
          <a:p>
            <a:pPr algn="l">
              <a:defRPr sz="1500" b="1">
                <a:solidFill>
                  <a:srgbClr val="F5F7FF"/>
                </a:solidFill>
                <a:latin typeface="Aptos"/>
              </a:defRPr>
            </a:pPr>
            <a:r>
              <a:rPr lang="en-IN" dirty="0"/>
              <a:t>By- Anushka Raj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01 •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What the project is, why it matters, and what the presentation covers.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1874519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1874519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64207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PROJECT THEME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108960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Phishing awareness through a controlled social-engineering simulation. The focus is on recognizing risky behavior, measuring awareness, and strengthening defensive habits.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29000" cy="1874519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64008" cy="1874519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664207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108960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Create a harmless mock phishing scenario, observe how participants respond, and use the findings to design practical awareness measures.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29000" cy="1874519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64008" cy="1874519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64207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ETHICAL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108960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No real passwords, banking data, tokens, or confidential information are collected. Participants are informed and the exercise remains controlled.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947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Project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508760" cy="82296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42569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7D3E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4416552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4315968"/>
            <a:ext cx="1508760" cy="82296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06040" y="442569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7D3E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4416552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315968"/>
            <a:ext cx="1508760" cy="82296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442569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7D3E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4416552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15968"/>
            <a:ext cx="1508760" cy="82296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442569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7D3E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416552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315968"/>
            <a:ext cx="1508760" cy="82296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440" y="442569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7D3E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4416552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0" y="4315968"/>
            <a:ext cx="1508760" cy="82296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21240" y="442569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7D3E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712" y="4416552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01 •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Introduction to 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Cyber security protects systems, identities, data, and users from digital threats.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16459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164592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556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310896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Only authorized people can access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429000" cy="16459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600200"/>
            <a:ext cx="64008" cy="164592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7556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130552"/>
            <a:ext cx="310896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Information remains accurate and is not improperly altered.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00200"/>
            <a:ext cx="3429000" cy="16459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600200"/>
            <a:ext cx="64008" cy="164592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7556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130552"/>
            <a:ext cx="310896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Systems and information remain accessible when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  <a:latin typeface="Aptos"/>
              </a:defRPr>
            </a:pPr>
            <a:r>
              <a:t>Where phishing 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7FF"/>
                </a:solidFill>
                <a:latin typeface="Aptos"/>
              </a:defRPr>
            </a:pPr>
            <a:r>
              <a:t>• Targets the human layer rather than only technical vulnerabilities.</a:t>
            </a:r>
          </a:p>
          <a:p>
            <a:pPr>
              <a:spcAft>
                <a:spcPts val="700"/>
              </a:spcAft>
              <a:defRPr sz="1300">
                <a:solidFill>
                  <a:srgbClr val="F5F7FF"/>
                </a:solidFill>
                <a:latin typeface="Aptos"/>
              </a:defRPr>
            </a:pPr>
            <a:r>
              <a:t>• Can lead to credential theft, malware delivery, fraud, or unauthorized access.</a:t>
            </a:r>
          </a:p>
          <a:p>
            <a:pPr>
              <a:spcAft>
                <a:spcPts val="700"/>
              </a:spcAft>
              <a:defRPr sz="1300">
                <a:solidFill>
                  <a:srgbClr val="F5F7FF"/>
                </a:solidFill>
                <a:latin typeface="Aptos"/>
              </a:defRPr>
            </a:pPr>
            <a:r>
              <a:t>• Strong technical controls are less effective when users are manipulated into bypassing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03320"/>
            <a:ext cx="4754880" cy="18288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3703320"/>
            <a:ext cx="64008" cy="182880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858768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DEFENSIVE MINDSET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233672"/>
            <a:ext cx="443484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Pause → Verify → Report. Treat urgency, unexpected requests, and unusual links as signals to investigate—not instructions to obey immediately.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02 •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What Is Phishing?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A deceptive communication designed to persuade a person to take an unsafe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F7FF"/>
                </a:solidFill>
                <a:latin typeface="Aptos"/>
              </a:defRPr>
            </a:pPr>
            <a:r>
              <a:t>Phishing commonly imitates a trusted organization, person, service, or workflow. The attacker creates a believable story and attempts to trigger a click, reply, download, payment, or disclosure.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2331720" cy="14173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64008" cy="141732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944368"/>
            <a:ext cx="20116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19272"/>
            <a:ext cx="201167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Impersonate a familiar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32918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788920"/>
            <a:ext cx="2331720" cy="14173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2788920"/>
            <a:ext cx="64008" cy="141732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5887" y="2944368"/>
            <a:ext cx="20116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319272"/>
            <a:ext cx="201167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Create pressure or 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32918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88920"/>
            <a:ext cx="2331720" cy="14173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788920"/>
            <a:ext cx="64008" cy="141732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944368"/>
            <a:ext cx="20116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19272"/>
            <a:ext cx="201167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Request a click / reply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2918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788920"/>
            <a:ext cx="2331720" cy="14173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2788920"/>
            <a:ext cx="64008" cy="141732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62288" y="2944368"/>
            <a:ext cx="20116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HARVEST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319272"/>
            <a:ext cx="201167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Attempt to obtain information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617720"/>
            <a:ext cx="10378440" cy="9601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4617720"/>
            <a:ext cx="64008" cy="96012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4773168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148072"/>
            <a:ext cx="1005840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The project studies the human decision point: can a participant recognize the deception before completing the requested action?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02 •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Why Phishing Is a Major Cyber Threat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Attackers often exploit normal workplace behavior: trust, speed, curiosity, and routine.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469880" cy="7498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7498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72768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Human-centered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10149840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Users are often the final decision 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50008"/>
            <a:ext cx="10469880" cy="7498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350008"/>
            <a:ext cx="64008" cy="749808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505456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Low technical barrier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10149840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convincing message can be created without exploiting a software vulnerability.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82696"/>
            <a:ext cx="10469880" cy="7498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282696"/>
            <a:ext cx="64008" cy="749808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4381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Scalable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813048"/>
            <a:ext cx="10149840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One campaign can reach many recipients.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15384"/>
            <a:ext cx="10469880" cy="7498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215384"/>
            <a:ext cx="64008" cy="749808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370832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Context-aware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745736"/>
            <a:ext cx="10149840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Messages can imitate common workflows such as password resets, invoices, delivery notices, or shared documents.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48072"/>
            <a:ext cx="10469880" cy="7498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148072"/>
            <a:ext cx="64008" cy="749808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5303520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High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678424"/>
            <a:ext cx="10149840" cy="128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single successful interaction can become an entry point for further compromise.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02 •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Types of Phishing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Different delivery channels use similar social-engineering principles.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160020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64207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Email 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Mass or targeted deceptive emails.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64008" cy="160020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64207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Spear phishing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Personalized messages aimed at a specific person or role.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64008" cy="160020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664207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Smishing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3911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Phishing delivered through SMS or messaging apps.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474720"/>
            <a:ext cx="64008" cy="160020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63016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Vishing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00507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Voice or phone-based social engineering.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7472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474720"/>
            <a:ext cx="64008" cy="160020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63016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Clone phishing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00507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copied or modified legitimate message containing a malicious change.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47472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3474720"/>
            <a:ext cx="64008" cy="1600200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363016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QR phishing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00507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QR code is used to redirect a victim to a deceptive destination.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02 •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Social Engineering &amp; Human Psychology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The simulation examines decision-making under realistic but safe pressure.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160020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84831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“Act now” language reduces time for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64008" cy="160020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709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1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Messages imitate managers, IT teams, banks, or known brands.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554480"/>
            <a:ext cx="64008" cy="160020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709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Curiosity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84831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Unexpected documents, alerts, or links encourage exploration.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657600"/>
            <a:ext cx="64008" cy="160020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8130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Fear /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18795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Threats of account closure or security incidents create pressure.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5760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657600"/>
            <a:ext cx="64008" cy="160020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8130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Familiarity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18795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message can look routine because it resembles normal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7D3E2"/>
                </a:solidFill>
                <a:latin typeface="Aptos"/>
              </a:defRPr>
            </a:pPr>
            <a:r>
              <a:t>Defensive response: slow down, inspect the source, verify through an independent channel, and report suspicious activity.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02 •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Common Phishing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Red flags to teach and measure during the awareness exercise.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11556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11556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Spoofed 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4754880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Look-alike names or domains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074920" cy="111556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64008" cy="1115568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7276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Urgent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47672"/>
            <a:ext cx="4754880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Pressure to act immediately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34640"/>
            <a:ext cx="5074920" cy="111556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834640"/>
            <a:ext cx="64008" cy="1115568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299008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Unexpected attachment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364992"/>
            <a:ext cx="4754880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Document or file not requested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34640"/>
            <a:ext cx="5074920" cy="111556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834640"/>
            <a:ext cx="64008" cy="1115568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299008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Suspicious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364992"/>
            <a:ext cx="4754880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Destination differs from visible 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51960"/>
            <a:ext cx="5074920" cy="111556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251960"/>
            <a:ext cx="64008" cy="1115568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40740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Credential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782312"/>
            <a:ext cx="4754880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Unexpected login or verification request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251960"/>
            <a:ext cx="5074920" cy="111556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251960"/>
            <a:ext cx="64008" cy="1115568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440740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Unusual payment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782312"/>
            <a:ext cx="4754880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New account, gift card, or bank detail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02 •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Real-World Pattern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Use patterns rather than copying a live malicious campaign.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07492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160020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Password reset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84831"/>
            <a:ext cx="47548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Unexpected reset notice with a link to “secure” the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07492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64008" cy="160020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70992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Shared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84831"/>
            <a:ext cx="47548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file-sharing notification asks the user to sign in immediately.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507492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520439"/>
            <a:ext cx="64008" cy="160020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675887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Invoice / 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50791"/>
            <a:ext cx="47548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fake invoice or bank-detail change creates financial urgency.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20439"/>
            <a:ext cx="507492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520439"/>
            <a:ext cx="64008" cy="160020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675887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Delivery / parcel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50791"/>
            <a:ext cx="475488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small fee or address confirmation is requested through a link.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0">
                <a:solidFill>
                  <a:srgbClr val="B5BCD6"/>
                </a:solidFill>
                <a:latin typeface="Aptos"/>
              </a:defRPr>
            </a:pPr>
            <a:r>
              <a:t>For the project, these patterns should be represented by a harmless mock-up—not a real credential-harvesting page.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03 • PROJECT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The project brief defines phishing as a threat that exploits human psychology to gain sensitive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424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5F7FF"/>
                </a:solidFill>
                <a:latin typeface="Aptos"/>
              </a:defRPr>
            </a:pPr>
            <a:r>
              <a:t>Phishing attacks remain effective because a user can be persuaded to trust a deceptive message even when security technology is present. The project therefore uses a controlled simulation to understand attacker behavior, user decisions, and practical awareness improvements.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3200400" cy="14173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64008" cy="141732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127248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8803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Users may trust a message before verifying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971800"/>
            <a:ext cx="3200400" cy="14173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971800"/>
            <a:ext cx="64008" cy="141732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3127248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THE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502152"/>
            <a:ext cx="28803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click or disclosure can create an access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971800"/>
            <a:ext cx="2926080" cy="14173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971800"/>
            <a:ext cx="64008" cy="141732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3127248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THE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502152"/>
            <a:ext cx="260604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Awareness + verification +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7D3E2"/>
                </a:solidFill>
                <a:latin typeface="Aptos"/>
              </a:defRPr>
            </a:pPr>
            <a:r>
              <a:t>Project question: How can a safe simulation reveal awareness gaps and turn them into measurable learning outcomes?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03 • PROJECT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The objectives from the supplied project brief, expanded into measurable activities.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337560" cy="16002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7D3E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276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2834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Research common phishing and social-engineering techniques.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37560" cy="16002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276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7D3E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21408"/>
            <a:ext cx="2834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Create a realistic-looking but harmless phishing scenario.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337560" cy="16002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6276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7D3E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6276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21408"/>
            <a:ext cx="2834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Measure clicks, attempted interaction, and reporting behavior.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3337560" cy="16002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6393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7D3E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393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33088"/>
            <a:ext cx="2834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Identify patterns in user decisions and awareness gaps.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74720"/>
            <a:ext cx="3337560" cy="16002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6393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7D3E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6393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Educate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33088"/>
            <a:ext cx="2834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Translate findings into practical prevention guidance.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474720"/>
            <a:ext cx="3337560" cy="16002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19" y="36393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7D3E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6393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133088"/>
            <a:ext cx="2834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Produce screenshots, results, lessons learned, and recommendations.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03 • PROJECT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Project Scope &amp; Ethical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The exercise is designed for learning—not credential collection or real-world exploitation.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029200" cy="13716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137160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64207"/>
            <a:ext cx="4709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47091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• Mock email and mock landing page</a:t>
            </a:r>
            <a:br/>
            <a:r>
              <a:t>• Consent-based participant group</a:t>
            </a:r>
            <a:br/>
            <a:r>
              <a:t>• Click / report measurement</a:t>
            </a:r>
            <a:br/>
            <a:r>
              <a:t>• Awareness analysis and education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5029200" cy="13716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64008" cy="137160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310128"/>
            <a:ext cx="4709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685032"/>
            <a:ext cx="47091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• Real passwords or authentication tokens</a:t>
            </a:r>
            <a:br/>
            <a:r>
              <a:t>• Banking / financial information</a:t>
            </a:r>
            <a:br/>
            <a:r>
              <a:t>• Malware or persistence</a:t>
            </a:r>
            <a:br/>
            <a:r>
              <a:t>• Unauthorized targets or public campaigns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4983480" cy="30175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64008" cy="301752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664207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SAFE DESIGN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039112"/>
            <a:ext cx="4663440" cy="2395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1. Obtain informed consent before the exercise.</a:t>
            </a:r>
            <a:br/>
            <a:r>
              <a:t>2. Make the simulation clearly controlled and reversible.</a:t>
            </a:r>
            <a:br/>
            <a:r>
              <a:t>3. Store only the minimum data needed for analysis.</a:t>
            </a:r>
            <a:br/>
            <a:r>
              <a:t>4. Do not reuse real credentials or personal secrets.</a:t>
            </a:r>
            <a:br/>
            <a:r>
              <a:t>5. Debrief participants and explain the warning signs.</a:t>
            </a:r>
            <a:br/>
            <a:r>
              <a:t>6. Delete simulation data when the project is complete.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04 •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Methodology / 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A six-stage process from research to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664208" cy="192024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572768"/>
            <a:ext cx="658368" cy="658368"/>
          </a:xfrm>
          <a:prstGeom prst="ellipse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0D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8803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BCD6"/>
                </a:solidFill>
                <a:latin typeface="Aptos"/>
              </a:defRPr>
            </a:pPr>
            <a:r>
              <a:t>Map phishing patterns and red flags.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5416" y="2761488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2057400"/>
            <a:ext cx="1664208" cy="192024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44368" y="1572768"/>
            <a:ext cx="658368" cy="658368"/>
          </a:xfrm>
          <a:prstGeom prst="ellipse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44368" y="1664208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0D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423160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28803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BCD6"/>
                </a:solidFill>
                <a:latin typeface="Aptos"/>
              </a:defRPr>
            </a:pPr>
            <a:r>
              <a:t>Build a harmless email + mock page.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4" y="2761488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2057400"/>
            <a:ext cx="1664208" cy="192024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82896" y="1572768"/>
            <a:ext cx="658368" cy="658368"/>
          </a:xfrm>
          <a:prstGeom prst="ellipse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82896" y="1664208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0D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423160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  <a:latin typeface="Aptos"/>
              </a:defRPr>
            </a:pPr>
            <a:r>
              <a:t>Consent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8803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BCD6"/>
                </a:solidFill>
                <a:latin typeface="Aptos"/>
              </a:defRPr>
            </a:pPr>
            <a:r>
              <a:t>Confirm participant permission and scope.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2761488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18504" y="2057400"/>
            <a:ext cx="1664208" cy="192024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21424" y="1572768"/>
            <a:ext cx="658368" cy="658368"/>
          </a:xfrm>
          <a:prstGeom prst="ellipse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21424" y="1664208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0D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423160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8803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BCD6"/>
                </a:solidFill>
                <a:latin typeface="Aptos"/>
              </a:defRPr>
            </a:pPr>
            <a:r>
              <a:t>Run the exercise within the agreed group.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761488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57032" y="2057400"/>
            <a:ext cx="1664208" cy="192024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759952" y="1572768"/>
            <a:ext cx="658368" cy="658368"/>
          </a:xfrm>
          <a:prstGeom prst="ellipse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59952" y="1664208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0D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423160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28803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BCD6"/>
                </a:solidFill>
                <a:latin typeface="Aptos"/>
              </a:defRPr>
            </a:pPr>
            <a:r>
              <a:t>Record safe behavioral outcomes.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2761488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2057400"/>
            <a:ext cx="1664208" cy="192024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98480" y="1572768"/>
            <a:ext cx="658368" cy="658368"/>
          </a:xfrm>
          <a:prstGeom prst="ellipse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1664208"/>
            <a:ext cx="658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0D1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423160"/>
            <a:ext cx="1389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  <a:latin typeface="Aptos"/>
              </a:defRPr>
            </a:pPr>
            <a:r>
              <a:t>Debrief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41864" y="2880360"/>
            <a:ext cx="1371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BCD6"/>
                </a:solidFill>
                <a:latin typeface="Aptos"/>
              </a:defRPr>
            </a:pPr>
            <a:r>
              <a:t>Share lessons and prevention steps.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75488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37D3E2"/>
                </a:solidFill>
                <a:latin typeface="Aptos"/>
              </a:defRPr>
            </a:pPr>
            <a:r>
              <a:t>Output: a documented awareness exercise with evidence, analysis, lessons learned, and mitigation recommendations.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04 •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Tools suggested or implied by the project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23444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HTML /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Create a safe mock landing page with no real credential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0749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64008" cy="123444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7276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Google 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4767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Collect non-sensitive awareness responses or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26080"/>
            <a:ext cx="50749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926080"/>
            <a:ext cx="64008" cy="123444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08152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PhishTool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45643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Optional platform for controlled phishing-awareness simulation.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926080"/>
            <a:ext cx="50749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926080"/>
            <a:ext cx="64008" cy="123444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08152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Kali Linux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45643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Optional security-learning toolkit; use only in an authorized lab.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34840"/>
            <a:ext cx="50749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434840"/>
            <a:ext cx="64008" cy="123444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59028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Spreadsheet /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96519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Analyze clicks, reports, and awareness outcomes.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34840"/>
            <a:ext cx="50749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434840"/>
            <a:ext cx="64008" cy="1234440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459028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Presentation /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965192"/>
            <a:ext cx="47548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Document evidence, findings, and prevention measures.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05 • SIMULATION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Designing the Simulated Phishing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Example concept: a harmless password-reset notification.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812280" cy="4480560"/>
          </a:xfrm>
          <a:prstGeom prst="roundRect">
            <a:avLst/>
          </a:prstGeom>
          <a:solidFill>
            <a:srgbClr val="F7F8FC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F4DD6"/>
                </a:solidFill>
                <a:latin typeface="Aptos"/>
              </a:defRPr>
            </a:pPr>
            <a:r>
              <a:t>SIMULATION EMAIL — TRAINING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B5F"/>
                </a:solidFill>
                <a:latin typeface="Aptos"/>
              </a:defRPr>
            </a:pPr>
            <a:r>
              <a:t>From: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031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E2232"/>
                </a:solidFill>
                <a:latin typeface="Aptos"/>
              </a:defRPr>
            </a:pPr>
            <a:r>
              <a:t>IT Support &lt;it-support@example.test&gt;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B5F"/>
                </a:solidFill>
                <a:latin typeface="Aptos"/>
              </a:defRPr>
            </a:pPr>
            <a:r>
              <a:t>Subject: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871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232"/>
                </a:solidFill>
                <a:latin typeface="Aptos"/>
              </a:defRPr>
            </a:pPr>
            <a:r>
              <a:t>Action required: password reset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61264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D3041"/>
                </a:solidFill>
                <a:latin typeface="Aptos"/>
              </a:defRPr>
            </a:pPr>
            <a:r>
              <a:t>Hello,</a:t>
            </a:r>
            <a:br/>
            <a:br/>
            <a:r>
              <a:t>A password-reset request was received for your account. Please review the request using the button below.</a:t>
            </a:r>
            <a:br/>
            <a:br/>
            <a:r>
              <a:t>[ REVIEW REQUEST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4697D"/>
                </a:solidFill>
                <a:latin typeface="Aptos"/>
              </a:defRPr>
            </a:pPr>
            <a:r>
              <a:t>Training control: the link should lead only to the project’s harmless mock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417320"/>
            <a:ext cx="3246120" cy="11887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1417320"/>
            <a:ext cx="64008" cy="118872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0728" y="1572768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DESIGN CUES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1947672"/>
            <a:ext cx="29260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Urgency • familiar workflow • clear call-to-action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788920"/>
            <a:ext cx="3246120" cy="11887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09560" y="2788920"/>
            <a:ext cx="64008" cy="118872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0728" y="2944368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WHAT TO 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3319272"/>
            <a:ext cx="29260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Click / no click • report / no report • time to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4160520"/>
            <a:ext cx="3246120" cy="11887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09560" y="4160520"/>
            <a:ext cx="64008" cy="118872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0728" y="4315968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WHAT NOT TO COLLECT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4690872"/>
            <a:ext cx="29260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Passwords • OTPs • bank details • personal secrets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05 • SIMULATION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Mock Login Page — Training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A visual demonstration only; no credentials should be stored or transmitted.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949440" cy="4709160"/>
          </a:xfrm>
          <a:prstGeom prst="roundRect">
            <a:avLst/>
          </a:prstGeom>
          <a:solidFill>
            <a:srgbClr val="EFF1F8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949440" cy="411480"/>
          </a:xfrm>
          <a:prstGeom prst="rect">
            <a:avLst/>
          </a:prstGeom>
          <a:solidFill>
            <a:srgbClr val="DA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1435608"/>
            <a:ext cx="128016" cy="128016"/>
          </a:xfrm>
          <a:prstGeom prst="ellipse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1435608"/>
            <a:ext cx="128016" cy="128016"/>
          </a:xfrm>
          <a:prstGeom prst="ellipse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08176" y="1435608"/>
            <a:ext cx="128016" cy="128016"/>
          </a:xfrm>
          <a:prstGeom prst="ellipse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74519" y="1399032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05464"/>
                </a:solidFill>
                <a:latin typeface="Aptos"/>
              </a:defRPr>
            </a:pPr>
            <a:r>
              <a:t>https://training.example.test/reset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2057400"/>
            <a:ext cx="4572000" cy="3246120"/>
          </a:xfrm>
          <a:prstGeom prst="roundRect">
            <a:avLst/>
          </a:prstGeom>
          <a:solidFill>
            <a:srgbClr val="F5F7FF"/>
          </a:solidFill>
          <a:ln>
            <a:solidFill>
              <a:srgbClr val="DC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239572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91C2D"/>
                </a:solidFill>
                <a:latin typeface="Aptos"/>
              </a:defRPr>
            </a:pPr>
            <a:r>
              <a:t>Account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0779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E7387"/>
                </a:solidFill>
                <a:latin typeface="Aptos"/>
              </a:defRPr>
            </a:pPr>
            <a:r>
              <a:t>Training simulation — do not enter a real password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3429000"/>
            <a:ext cx="3474720" cy="438912"/>
          </a:xfrm>
          <a:prstGeom prst="roundRect">
            <a:avLst/>
          </a:prstGeom>
          <a:solidFill>
            <a:srgbClr val="F7F8FC"/>
          </a:solidFill>
          <a:ln>
            <a:solidFill>
              <a:srgbClr val="D2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78608" y="3511296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828696"/>
                </a:solidFill>
                <a:latin typeface="Aptos"/>
              </a:defRPr>
            </a:pPr>
            <a:r>
              <a:t>Email address (demo only)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4160520"/>
            <a:ext cx="3474720" cy="438912"/>
          </a:xfrm>
          <a:prstGeom prst="roundRect">
            <a:avLst/>
          </a:prstGeom>
          <a:solidFill>
            <a:srgbClr val="F7F8FC"/>
          </a:solidFill>
          <a:ln>
            <a:solidFill>
              <a:srgbClr val="D2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78608" y="4242816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828696"/>
                </a:solidFill>
                <a:latin typeface="Aptos"/>
              </a:defRPr>
            </a:pPr>
            <a:r>
              <a:t>Password field (disabled in simulation)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4736592"/>
            <a:ext cx="3474720" cy="411480"/>
          </a:xfrm>
          <a:prstGeom prst="round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23160" y="480060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  <a:latin typeface="Aptos"/>
              </a:defRPr>
            </a:pPr>
            <a:r>
              <a:t>CONTINUE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463040"/>
            <a:ext cx="3154680" cy="132588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01000" y="1463040"/>
            <a:ext cx="64008" cy="132588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8" y="161848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SAFETY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1993392"/>
            <a:ext cx="283464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Use a training domain or local environment. Do not imitate a real organization’s login portal.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971800"/>
            <a:ext cx="3154680" cy="132588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2971800"/>
            <a:ext cx="64008" cy="132588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12724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DATA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3502152"/>
            <a:ext cx="283464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Disable real authentication. Store only event counts or anonymous outcomes.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4480560"/>
            <a:ext cx="3154680" cy="132588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01000" y="4480560"/>
            <a:ext cx="64008" cy="132588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2168" y="463600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DEBRIEF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5010912"/>
            <a:ext cx="283464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Reveal the simulation after the agreed exercise and explain every warning sign.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05 • SIMULATION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Controlled Simulation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Participant journey from receiving the message to the learning debrief.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874519" cy="1325880"/>
          </a:xfrm>
          <a:prstGeom prst="roundRect">
            <a:avLst/>
          </a:prstGeom>
          <a:solidFill>
            <a:srgbClr val="141931"/>
          </a:solidFill>
          <a:ln w="25400">
            <a:solidFill>
              <a:srgbClr val="6F4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7FF"/>
                </a:solidFill>
                <a:latin typeface="Aptos"/>
              </a:defRPr>
            </a:pPr>
            <a:r>
              <a:t>EMAIL</a:t>
            </a:r>
            <a:br/>
            <a:r>
              <a:t>RECEIVED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2633472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148840"/>
            <a:ext cx="1874519" cy="1325880"/>
          </a:xfrm>
          <a:prstGeom prst="roundRect">
            <a:avLst/>
          </a:prstGeom>
          <a:solidFill>
            <a:srgbClr val="141931"/>
          </a:solidFill>
          <a:ln w="25400">
            <a:solidFill>
              <a:srgbClr val="37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799" y="2487168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7FF"/>
                </a:solidFill>
                <a:latin typeface="Aptos"/>
              </a:defRPr>
            </a:pPr>
            <a:r>
              <a:t>LINK</a:t>
            </a:r>
            <a:br/>
            <a:r>
              <a:t>OPENED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633472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148840"/>
            <a:ext cx="1874519" cy="1325880"/>
          </a:xfrm>
          <a:prstGeom prst="roundRect">
            <a:avLst/>
          </a:prstGeom>
          <a:solidFill>
            <a:srgbClr val="141931"/>
          </a:solidFill>
          <a:ln w="25400">
            <a:solidFill>
              <a:srgbClr val="F6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2487168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7FF"/>
                </a:solidFill>
                <a:latin typeface="Aptos"/>
              </a:defRPr>
            </a:pPr>
            <a:r>
              <a:t>MOCK PAGE</a:t>
            </a:r>
            <a:br/>
            <a:r>
              <a:t>VIEWED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633472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148840"/>
            <a:ext cx="1874519" cy="1325880"/>
          </a:xfrm>
          <a:prstGeom prst="roundRect">
            <a:avLst/>
          </a:prstGeom>
          <a:solidFill>
            <a:srgbClr val="141931"/>
          </a:solidFill>
          <a:ln w="25400">
            <a:solidFill>
              <a:srgbClr val="EF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2487168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7FF"/>
                </a:solidFill>
                <a:latin typeface="Aptos"/>
              </a:defRPr>
            </a:pPr>
            <a:r>
              <a:t>ACTION</a:t>
            </a:r>
            <a:br/>
            <a:r>
              <a:t>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2633472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5BC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148840"/>
            <a:ext cx="1874519" cy="1325880"/>
          </a:xfrm>
          <a:prstGeom prst="roundRect">
            <a:avLst/>
          </a:prstGeom>
          <a:solidFill>
            <a:srgbClr val="141931"/>
          </a:solidFill>
          <a:ln w="25400">
            <a:solidFill>
              <a:srgbClr val="4CC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0" y="2487168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F7FF"/>
                </a:solidFill>
                <a:latin typeface="Aptos"/>
              </a:defRPr>
            </a:pPr>
            <a:r>
              <a:t>DEBRIEF +</a:t>
            </a:r>
            <a:br/>
            <a:r>
              <a:t>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37D3E2"/>
                </a:solidFill>
                <a:latin typeface="Aptos"/>
              </a:defRPr>
            </a:pPr>
            <a:r>
              <a:t>Measure only what is necessary for awareness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663440"/>
            <a:ext cx="2971800" cy="9601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5840" y="4663440"/>
            <a:ext cx="64008" cy="96012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07008" y="4818888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SAFE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5193792"/>
            <a:ext cx="2651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Opened • clicked • reported • response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663440"/>
            <a:ext cx="2971800" cy="9601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4663440"/>
            <a:ext cx="64008" cy="96012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73168" y="4818888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AVOID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5193792"/>
            <a:ext cx="2651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Passwords • OTPs • sensitive personal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663440"/>
            <a:ext cx="2971800" cy="9601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4663440"/>
            <a:ext cx="64008" cy="96012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8" y="4818888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5193792"/>
            <a:ext cx="26517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Awareness gaps → targeted education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05 • SIMULATION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User Interaction &amp; 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Turn the simulation into measurable awareness outcomes without collecting sensitive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6583680" cy="713232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64008" cy="713232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27048"/>
            <a:ext cx="6263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Recipients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62636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Number of consenting participants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67712"/>
            <a:ext cx="6583680" cy="713232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267712"/>
            <a:ext cx="64008" cy="713232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423160"/>
            <a:ext cx="6263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Opened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798064"/>
            <a:ext cx="62636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Participants who viewed the message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63824"/>
            <a:ext cx="6583680" cy="713232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163824"/>
            <a:ext cx="64008" cy="713232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319272"/>
            <a:ext cx="6263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Clicked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694176"/>
            <a:ext cx="62636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Participants who followed the simulation link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59935"/>
            <a:ext cx="6583680" cy="713232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4059935"/>
            <a:ext cx="64008" cy="713232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215383"/>
            <a:ext cx="6263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Reported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590288"/>
            <a:ext cx="62636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Participants who identified and reported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56048"/>
            <a:ext cx="6583680" cy="713232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956048"/>
            <a:ext cx="64008" cy="713232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111496"/>
            <a:ext cx="6263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Time to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486400"/>
            <a:ext cx="62636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How quickly a suspicious message was reported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1371600"/>
            <a:ext cx="3520440" cy="425196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1371600"/>
            <a:ext cx="64008" cy="425196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36408" y="152704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1901952"/>
            <a:ext cx="320040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Recommended approach:</a:t>
            </a:r>
            <a:br/>
            <a:br/>
            <a:r>
              <a:t>• Use anonymous IDs or aggregate counts.</a:t>
            </a:r>
            <a:br/>
            <a:r>
              <a:t>• Keep only the minimum data required.</a:t>
            </a:r>
            <a:br/>
            <a:r>
              <a:t>• Restrict access to the project team.</a:t>
            </a:r>
            <a:br/>
            <a:r>
              <a:t>• Do not store passwords or sensitive information.</a:t>
            </a:r>
            <a:br/>
            <a:r>
              <a:t>• Define a deletion date before the exercise.</a:t>
            </a:r>
            <a:br/>
            <a:r>
              <a:t>• Report group-level results rather than embarrassing individuals.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06 •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Results — Demonstration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Illustrative numbers for the PPT only. Replace with actual project results after the simulation.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508760"/>
          <a:ext cx="6400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52360" y="1554480"/>
            <a:ext cx="37033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64008" cy="123444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8" y="1709928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SAMPLE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2084831"/>
            <a:ext cx="33832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42 consenting participants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971800"/>
            <a:ext cx="37033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2971800"/>
            <a:ext cx="64008" cy="123444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3528" y="3127248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SAMPLE CLICK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3502152"/>
            <a:ext cx="33832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18 / 42 = 42.9%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389120"/>
            <a:ext cx="3703320" cy="123444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4389120"/>
            <a:ext cx="64008" cy="123444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53528" y="4544568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SAMPLE REPORT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4919472"/>
            <a:ext cx="33832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24 / 42 = 57.1%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704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F5B6F"/>
                </a:solidFill>
                <a:latin typeface="Aptos"/>
              </a:defRPr>
            </a:pPr>
            <a:r>
              <a:t>Illustrative dataset — not a claim about actual participants.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06 •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Analysis of User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How to interpret the findings without blaming individual participants.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120640" cy="132588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4008" cy="132588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1848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OBSERVATION 1 — CLICKS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480060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click indicates that the message successfully created enough trust or urgency to overcome hesitation. It is an awareness signal, not a personal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5120640" cy="132588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64008" cy="132588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21868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OBSERVATION 2 —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593592"/>
            <a:ext cx="480060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 report indicates that the participant recognized enough warning signs to seek help or escalate the message.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4937760" cy="132588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64008" cy="132588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618488"/>
            <a:ext cx="4617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OBSERVATION 3 —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993392"/>
            <a:ext cx="461772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Users who independently verify the sender or request demonstrate a strong defensive habit even when the message looks plausible.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4937760" cy="132588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063240"/>
            <a:ext cx="64008" cy="132588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218688"/>
            <a:ext cx="4617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OBSERVATION 4 — TRAINING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593592"/>
            <a:ext cx="461772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Repeated confusion around links, sender identity, or urgency can guide the next awareness module.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37D3E2"/>
                </a:solidFill>
                <a:latin typeface="Aptos"/>
              </a:defRPr>
            </a:pPr>
            <a:r>
              <a:t>Key principle: analyze behavior at the group level and convert patterns into better training.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07 •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The simulation connects technical controls with human decision-making.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1430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7D3E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7276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Pause before clicking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CD6"/>
                </a:solidFill>
                <a:latin typeface="Aptos"/>
              </a:defRPr>
            </a:pPr>
            <a:r>
              <a:t>Urgency is a common manipulation technique.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074920" cy="11430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7D3E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7276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Inspect the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CD6"/>
                </a:solidFill>
                <a:latin typeface="Aptos"/>
              </a:defRPr>
            </a:pPr>
            <a:r>
              <a:t>Sender names and domains can be misleading.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34640"/>
            <a:ext cx="5074920" cy="11430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7D3E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9008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Verify independently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37560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CD6"/>
                </a:solidFill>
                <a:latin typeface="Aptos"/>
              </a:defRPr>
            </a:pPr>
            <a:r>
              <a:t>Use a known channel instead of the message’s contact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34640"/>
            <a:ext cx="5074920" cy="11430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0175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7D3E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9008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Report 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337560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CD6"/>
                </a:solidFill>
                <a:latin typeface="Aptos"/>
              </a:defRPr>
            </a:pPr>
            <a:r>
              <a:t>Early reporting can help protect other users.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51960"/>
            <a:ext cx="5074920" cy="11430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7D3E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0740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Training should be practical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54880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CD6"/>
                </a:solidFill>
                <a:latin typeface="Aptos"/>
              </a:defRPr>
            </a:pPr>
            <a:r>
              <a:t>Short, realistic exercises can reveal specific awareness gaps.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251960"/>
            <a:ext cx="5074920" cy="1143000"/>
          </a:xfrm>
          <a:prstGeom prst="roundRect">
            <a:avLst/>
          </a:prstGeom>
          <a:solidFill>
            <a:srgbClr val="141931"/>
          </a:solidFill>
          <a:ln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443484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7D3E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07408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Ethics matter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754880"/>
            <a:ext cx="4069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CD6"/>
                </a:solidFill>
                <a:latin typeface="Aptos"/>
              </a:defRPr>
            </a:pPr>
            <a:r>
              <a:t>A security exercise must respect consent, privacy, and scope.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07 •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Preventive Measures &amp; Security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Practical habits that reduce phishing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4008" cy="160020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1848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Check sender address, domain, context, and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64008" cy="1600200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1848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PAUSE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Do not let urgency override normal security procedures.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64008" cy="160020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61848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LINK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93392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Inspect destination before opening; use known bookmarks when possible.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4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520440"/>
            <a:ext cx="64008" cy="160020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67588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MFA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050791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Use multi-factor authentication to reduce the impact of stolen passwords.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52044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520440"/>
            <a:ext cx="64008" cy="1600200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67588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050791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Send suspicious messages to the approved security/help-desk channel.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520440"/>
            <a:ext cx="3337560" cy="160020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3520440"/>
            <a:ext cx="64008" cy="1600200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367588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050791"/>
            <a:ext cx="301752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Repeat short exercises and teach users what to look for.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7D3E2"/>
                </a:solidFill>
                <a:latin typeface="Aptos"/>
              </a:defRPr>
            </a:pPr>
            <a:r>
              <a:t>Defense works best as a layered process: people + process + technology.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08 •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Aptos"/>
              </a:defRPr>
            </a:pPr>
            <a:r>
              <a:t>Recommendations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5BCD6"/>
                </a:solidFill>
                <a:latin typeface="Aptos"/>
              </a:defRPr>
            </a:pPr>
            <a:r>
              <a:t>Turn a one-time simulation into a repeatable security-awareness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2070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207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Short recurring simulations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47548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Run controlled exercises periodically and vary the warning signs.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074920" cy="12070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64008" cy="1207008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7276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Role-based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47672"/>
            <a:ext cx="47548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Use scenarios relevant to finance, HR, IT, management, and general staff.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80360"/>
            <a:ext cx="5074920" cy="12070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880360"/>
            <a:ext cx="64008" cy="1207008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03580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Measure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410712"/>
            <a:ext cx="47548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Compare reporting and verification behavior across exercises.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80360"/>
            <a:ext cx="5074920" cy="12070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880360"/>
            <a:ext cx="64008" cy="1207008"/>
          </a:xfrm>
          <a:prstGeom prst="rect">
            <a:avLst/>
          </a:prstGeom>
          <a:solidFill>
            <a:srgbClr val="F6C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03580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Strengthen technical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410712"/>
            <a:ext cx="47548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Combine awareness with MFA, secure email controls, endpoint protection, and access policies.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43400"/>
            <a:ext cx="5074920" cy="12070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343400"/>
            <a:ext cx="64008" cy="1207008"/>
          </a:xfrm>
          <a:prstGeom prst="rect">
            <a:avLst/>
          </a:prstGeom>
          <a:solidFill>
            <a:srgbClr val="EF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4988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Improve reporting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873752"/>
            <a:ext cx="47548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Make the security-reporting path easy to find and use.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343400"/>
            <a:ext cx="5074920" cy="1207008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343400"/>
            <a:ext cx="64008" cy="1207008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4498848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873752"/>
            <a:ext cx="47548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Add dashboards, anonymous risk trends, micro-learning, and safe simulated scenarios.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155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BCD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D3E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589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5F7FF"/>
                </a:solidFill>
                <a:latin typeface="Aptos"/>
              </a:defRPr>
            </a:pPr>
            <a:r>
              <a:t>Security awareness is</a:t>
            </a:r>
            <a:br/>
            <a:r>
              <a:t>part of cyber security.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5BCD6"/>
                </a:solidFill>
                <a:latin typeface="Aptos"/>
              </a:defRPr>
            </a:pPr>
            <a:r>
              <a:t>A controlled phishing simulation can reveal how users respond to deceptive messages, identify awareness gaps, and provide a safe basis for improving defensive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246120" cy="11887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46720" y="1508760"/>
            <a:ext cx="64008" cy="1188720"/>
          </a:xfrm>
          <a:prstGeom prst="rect">
            <a:avLst/>
          </a:prstGeom>
          <a:solidFill>
            <a:srgbClr val="6F4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664207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039112"/>
            <a:ext cx="29260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Identify the warning signs.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880360"/>
            <a:ext cx="3246120" cy="11887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2880360"/>
            <a:ext cx="64008" cy="1188720"/>
          </a:xfrm>
          <a:prstGeom prst="rect">
            <a:avLst/>
          </a:prstGeom>
          <a:solidFill>
            <a:srgbClr val="37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3035808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410712"/>
            <a:ext cx="29260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Confirm before acting.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51960"/>
            <a:ext cx="3246120" cy="1188720"/>
          </a:xfrm>
          <a:prstGeom prst="roundRect">
            <a:avLst/>
          </a:prstGeom>
          <a:solidFill>
            <a:srgbClr val="141931"/>
          </a:solidFill>
          <a:ln w="12700">
            <a:solidFill>
              <a:srgbClr val="34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4251960"/>
            <a:ext cx="64008" cy="1188720"/>
          </a:xfrm>
          <a:prstGeom prst="rect">
            <a:avLst/>
          </a:prstGeom>
          <a:solidFill>
            <a:srgbClr val="4CC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4407408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782312"/>
            <a:ext cx="29260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BCD6"/>
                </a:solidFill>
                <a:latin typeface="Aptos"/>
              </a:defRPr>
            </a:pPr>
            <a:r>
              <a:t>Escalate suspicious activity.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166360"/>
            <a:ext cx="6126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5F7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5BCD6"/>
                </a:solidFill>
                <a:latin typeface="Aptos"/>
              </a:defRPr>
            </a:pPr>
            <a:r>
              <a:t>NAVIOTECH SOLUTION PVT. LTD.  •  CYBER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E2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2527</Words>
  <Application>Microsoft Office PowerPoint</Application>
  <PresentationFormat>Widescreen</PresentationFormat>
  <Paragraphs>415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Shlok Kalani</cp:lastModifiedBy>
  <cp:revision>3</cp:revision>
  <dcterms:created xsi:type="dcterms:W3CDTF">2013-01-27T09:14:16Z</dcterms:created>
  <dcterms:modified xsi:type="dcterms:W3CDTF">2026-09-28T19:31:16Z</dcterms:modified>
  <cp:category/>
</cp:coreProperties>
</file>