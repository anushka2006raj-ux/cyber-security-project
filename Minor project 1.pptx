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1498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569B1"/>
                </a:solidFill>
              </a:defRPr>
            </a:pPr>
            <a:r>
              <a:rPr dirty="0"/>
              <a:t>M</a:t>
            </a:r>
            <a:r>
              <a:rPr lang="en-US" dirty="0"/>
              <a:t>INOR</a:t>
            </a:r>
            <a:r>
              <a:rPr dirty="0"/>
              <a:t> PROJECT </a:t>
            </a:r>
            <a:r>
              <a:rPr lang="en-US" dirty="0"/>
              <a:t>1 </a:t>
            </a:r>
            <a:r>
              <a:rPr dirty="0"/>
              <a:t>• CYBER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323"/>
                </a:solidFill>
              </a:defRPr>
            </a:pPr>
            <a:r>
              <a:rPr dirty="0"/>
              <a:t>CYBERSECURITY RISK ASSESSMENT</a:t>
            </a:r>
            <a:br>
              <a:rPr dirty="0"/>
            </a:br>
            <a:r>
              <a:rPr dirty="0"/>
              <a:t>FRAMEWORK FOR SMALL BUSINESSES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6324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5F5F"/>
                </a:solidFill>
              </a:defRPr>
            </a:pPr>
            <a:r>
              <a:t>A structured approach to identifying, evaluating and mitigating cybersecurity risks in SMEs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DF2686-D614-AAD2-459E-4DE407398912}"/>
              </a:ext>
            </a:extLst>
          </p:cNvPr>
          <p:cNvSpPr txBox="1"/>
          <p:nvPr/>
        </p:nvSpPr>
        <p:spPr>
          <a:xfrm>
            <a:off x="808649" y="4750505"/>
            <a:ext cx="6044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SUBMITTED BY- ANUSHAKA RAJ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SUBMITTED TO- NAVIOTECH SOLUTION PVT. LTD.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Why cybersecurity risk assessment matters for small and medium enterprises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3520440" cy="356616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3055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Cybersecurity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24328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Identify threats that could affect systems, data and business operations.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Assess how likely and how damaging each risk could 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65960"/>
            <a:ext cx="3520440" cy="356616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SME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24328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Small businesses may have limited budgets, staff and security resources.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A structured assessment helps focus effort on the most important risks.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965960"/>
            <a:ext cx="3520440" cy="356616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213055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Project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624328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Research common SME risks.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Develop a practical assessment model and mitigation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32323"/>
                </a:solidFill>
              </a:defRPr>
            </a:pPr>
            <a:r>
              <a:t>Problem Statement: Small businesses face cybersecurity risks such as phishing, ransomware and insider threats, but may lack a structured way to evaluate and prioritize them.</a:t>
            </a:r>
          </a:p>
          <a:p>
            <a:pPr>
              <a:spcAft>
                <a:spcPts val="1300"/>
              </a:spcAft>
              <a:defRPr sz="1500">
                <a:solidFill>
                  <a:srgbClr val="232323"/>
                </a:solidFill>
              </a:defRPr>
            </a:pPr>
            <a:r>
              <a:t>Objective 1: Research common cybersecurity risks in SMEs.</a:t>
            </a:r>
          </a:p>
          <a:p>
            <a:pPr>
              <a:spcAft>
                <a:spcPts val="1300"/>
              </a:spcAft>
              <a:defRPr sz="1500">
                <a:solidFill>
                  <a:srgbClr val="232323"/>
                </a:solidFill>
              </a:defRPr>
            </a:pPr>
            <a:r>
              <a:t>Objective 2: Develop a risk assessment model based on severity and impact.</a:t>
            </a:r>
          </a:p>
          <a:p>
            <a:pPr>
              <a:spcAft>
                <a:spcPts val="1300"/>
              </a:spcAft>
              <a:defRPr sz="1500">
                <a:solidFill>
                  <a:srgbClr val="232323"/>
                </a:solidFill>
              </a:defRPr>
            </a:pPr>
            <a:r>
              <a:t>Objective 3: Propose practical risk mitigation strategies.</a:t>
            </a:r>
          </a:p>
          <a:p>
            <a:pPr>
              <a:spcAft>
                <a:spcPts val="1300"/>
              </a:spcAft>
              <a:defRPr sz="1500">
                <a:solidFill>
                  <a:srgbClr val="232323"/>
                </a:solidFill>
              </a:defRPr>
            </a:pPr>
            <a:r>
              <a:t>Objective 4: Validate the model using business case studies.</a:t>
            </a:r>
          </a:p>
          <a:p>
            <a:pPr>
              <a:spcAft>
                <a:spcPts val="1300"/>
              </a:spcAft>
              <a:defRPr sz="1500">
                <a:solidFill>
                  <a:srgbClr val="232323"/>
                </a:solidFill>
              </a:defRPr>
            </a:pPr>
            <a:r>
              <a:t>Objective 5: Document findings and recommend best practices.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Common Cybersecurity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Major threats identified for the SME risk 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520440" cy="361188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Phishing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Deceptive emails or messages can trick employees into clicking links or sharing information.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Human awareness is an important defensive layer.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520440" cy="361188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Ransomware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8716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Malicious software can disrupt access to systems or data.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Backups, updates and access controls can reduce exposure.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520440" cy="361188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Insider Threats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8716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Risk may arise from misuse, mistakes or unauthorized access by people inside the organization.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Least privilege and monitoring can help manage the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Risk Assessment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A repeatable process for evaluating cybersecurity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1. Identify assets and business processes that need protection.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2. Identify relevant threats and vulnerabilities.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3. Estimate likelihood and potential business impact.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4. Assign an overall risk level and prioritize treatment.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5. Select mitigation controls and document responsibilities.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6. Review the assessment regularly as the business environment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Risk Evaluation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Ranking threats using severity and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74720" cy="356616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993392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Likelihood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8716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1 — Rare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2 — Unlikely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3 — Possible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4 — Likely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5 — Almost certain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28800"/>
            <a:ext cx="3474720" cy="356616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993392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48716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1 — Minor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2 — Low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3 — Moderate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4 — Major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5 — Severe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356616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Risk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8716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Risk Score = Likelihood × Impact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Higher scores receive greater priority.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Example: 4 × 5 = 20.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Risk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Simple prioritization model for SME cybersecurity threats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507992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4672583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4507992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4672583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4507992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4672583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507992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4672583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4507992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4672583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3849624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11680" y="4014215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3849624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4014215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3849624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4014215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849624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4014215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849624"/>
            <a:ext cx="1417320" cy="658368"/>
          </a:xfrm>
          <a:prstGeom prst="rect">
            <a:avLst/>
          </a:prstGeom>
          <a:solidFill>
            <a:srgbClr val="DDD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0" y="4014215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3191256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11680" y="335584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191256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29000" y="335584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3191256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335584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191256"/>
            <a:ext cx="1417320" cy="658368"/>
          </a:xfrm>
          <a:prstGeom prst="rect">
            <a:avLst/>
          </a:prstGeom>
          <a:solidFill>
            <a:srgbClr val="DDD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335584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3191256"/>
            <a:ext cx="1417320" cy="658368"/>
          </a:xfrm>
          <a:prstGeom prst="rect">
            <a:avLst/>
          </a:prstGeom>
          <a:solidFill>
            <a:srgbClr val="DDD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0" y="335584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2532887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011680" y="2697479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9000" y="2532887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29000" y="2697479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2532887"/>
            <a:ext cx="1417320" cy="658368"/>
          </a:xfrm>
          <a:prstGeom prst="rect">
            <a:avLst/>
          </a:prstGeom>
          <a:solidFill>
            <a:srgbClr val="DDD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46320" y="2697479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2532887"/>
            <a:ext cx="1417320" cy="658368"/>
          </a:xfrm>
          <a:prstGeom prst="rect">
            <a:avLst/>
          </a:prstGeom>
          <a:solidFill>
            <a:srgbClr val="DDD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63640" y="2697479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2532887"/>
            <a:ext cx="1417320" cy="658368"/>
          </a:xfrm>
          <a:prstGeom prst="rect">
            <a:avLst/>
          </a:prstGeom>
          <a:solidFill>
            <a:srgbClr val="DDD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80960" y="2697479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0" y="1874519"/>
            <a:ext cx="1417320" cy="658368"/>
          </a:xfrm>
          <a:prstGeom prst="rect">
            <a:avLst/>
          </a:prstGeom>
          <a:solidFill>
            <a:srgbClr val="EBE8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011680" y="2039112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29000" y="1874519"/>
            <a:ext cx="1417320" cy="658368"/>
          </a:xfrm>
          <a:prstGeom prst="rect">
            <a:avLst/>
          </a:prstGeom>
          <a:solidFill>
            <a:srgbClr val="DDD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29000" y="2039112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1874519"/>
            <a:ext cx="1417320" cy="658368"/>
          </a:xfrm>
          <a:prstGeom prst="rect">
            <a:avLst/>
          </a:prstGeom>
          <a:solidFill>
            <a:srgbClr val="DDD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46320" y="2039112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1874519"/>
            <a:ext cx="1417320" cy="658368"/>
          </a:xfrm>
          <a:prstGeom prst="rect">
            <a:avLst/>
          </a:prstGeom>
          <a:solidFill>
            <a:srgbClr val="DDD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63640" y="2039112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1874519"/>
            <a:ext cx="1417320" cy="658368"/>
          </a:xfrm>
          <a:prstGeom prst="rect">
            <a:avLst/>
          </a:prstGeom>
          <a:solidFill>
            <a:srgbClr val="DDD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680960" y="2039112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2971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323"/>
                </a:solidFill>
              </a:defRPr>
            </a:pPr>
            <a:r>
              <a:t>Likelihood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6235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323"/>
                </a:solidFill>
              </a:defRPr>
            </a:pPr>
            <a:r>
              <a:t>Impact 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92469" y="1965961"/>
            <a:ext cx="248657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323"/>
                </a:solidFill>
              </a:defRPr>
            </a:pPr>
            <a:r>
              <a:t>1–4: Lower priority</a:t>
            </a:r>
          </a:p>
          <a:p>
            <a:pPr>
              <a:spcAft>
                <a:spcPts val="1200"/>
              </a:spcAft>
              <a:defRPr sz="1400">
                <a:solidFill>
                  <a:srgbClr val="232323"/>
                </a:solidFill>
              </a:defRPr>
            </a:pPr>
            <a:r>
              <a:t>5–9: Moderate priority</a:t>
            </a:r>
          </a:p>
          <a:p>
            <a:pPr>
              <a:spcAft>
                <a:spcPts val="1200"/>
              </a:spcAft>
              <a:defRPr sz="1400">
                <a:solidFill>
                  <a:srgbClr val="232323"/>
                </a:solidFill>
              </a:defRPr>
            </a:pPr>
            <a:r>
              <a:t>10–15: High priority</a:t>
            </a:r>
          </a:p>
          <a:p>
            <a:pPr>
              <a:spcAft>
                <a:spcPts val="1200"/>
              </a:spcAft>
              <a:defRPr sz="1400">
                <a:solidFill>
                  <a:srgbClr val="232323"/>
                </a:solidFill>
              </a:defRPr>
            </a:pPr>
            <a:r>
              <a:t>16–25: Critical priority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Risk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Example of documenting and prioritizing SME risks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828800"/>
          <a:ext cx="1069847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Threat</a:t>
                      </a:r>
                    </a:p>
                  </a:txBody>
                  <a:tcPr>
                    <a:solidFill>
                      <a:srgbClr val="37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37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37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37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3726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Phishing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Ransomware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Insider threat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Weak passwords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Unpatched systems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B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Risk Mitigation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Controls proposed in the project instructions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520440" cy="361188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Technical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Firewalls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Multi-factor authentication (MFA)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Regular software updates and backups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520440" cy="361188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People &amp;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8716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Employee cybersecurity training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Incident reporting procedures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Clear access and password policies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520440" cy="361188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Access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8716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Least-privilege access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Strong authentication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Regular review of user permissions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Case Study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Applying the framework to different small-business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520440" cy="361188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Retail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Online payments and customer data.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Key risks: phishing, weak passwords and payment-system disruption.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Controls: MFA, training and secure backups.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520440" cy="361188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Professional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8716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Sensitive client documents and email communication.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Key risks: phishing, unauthorized access and data leakage.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Controls: access management and employee awareness.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520440" cy="361188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3118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Small Manufacturer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8716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Operational systems and shared business devices.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Key risks: ransomware, unpatched systems and insider misuse.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Controls: patching, backups and least privilege.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Results &amp;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Illustrative application of the risk scoring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The model converts individual threats into comparable risk scores.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High-scoring risks can be addressed before lower-priority issues.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The risk register provides a simple record of threats, scores and proposed controls.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Case-study application shows how the same framework can be adapted to different business environments.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The assessment should be reviewed periodically because threats, assets and business processes can 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Findings &amp; Best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Practical lessons for improving SME cybersecurity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21208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4809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4709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Risk prioritization helps limited resources focus on important threats.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Employee behavior is an important part of cybersecurity.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Technical controls work best when combined with policies and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828800"/>
            <a:ext cx="521208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1993392"/>
            <a:ext cx="4809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Best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487168"/>
            <a:ext cx="4709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Use MFA for important accounts.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Train employees to recognize phishing and report incidents.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Maintain secure backups and update systems regularly.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Review access permissions and cybersecurity risks periodically.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Implementation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A practical sequence for an SME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Step 1 — Identify important assets, users and business processes.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Step 2 — List threats and vulnerabilities relevant to the business.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Step 3 — Score likelihood and impact and create the risk register.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Step 4 — Prioritize high and critical risks.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Step 5 — Implement suitable technical, people and process controls.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Step 6 — Monitor, review and update the assessment regularly.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6459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Naviotech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Summary of the proposed cybersecurity risk assessment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25780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4855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A structured risk assessment gives SMEs a practical way to identify and prioritize cybersecurity threats.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Combining risk scoring with mitigation strategies supports better security decisions.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The framework is intended to be simple enough for small-business environments.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525780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993392"/>
            <a:ext cx="4855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487168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Apply the framework to more business sectors.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Add automated risk scoring and reporting.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Include continuous monitoring and periodic reassessment.</a:t>
            </a:r>
          </a:p>
          <a:p>
            <a:pPr>
              <a:spcAft>
                <a:spcPts val="1300"/>
              </a:spcAft>
              <a:defRPr sz="1300">
                <a:solidFill>
                  <a:srgbClr val="232323"/>
                </a:solidFill>
              </a:defRPr>
            </a:pPr>
            <a:r>
              <a:t>Expand case studies with real organizational observations.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7315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13816"/>
            <a:ext cx="12191695" cy="50292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69B1"/>
                </a:solidFill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References &amp; 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Reference areas specified in the project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18968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NIST Cybersecurity Framework and related cybersecurity risk-management guidance.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Project brief — Cybersecurity Risk Assessment Framework for Small Businesses.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Case-study material and organizational cybersecurity best-practice resources used during the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72673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1031</Words>
  <Application>Microsoft Office PowerPoint</Application>
  <PresentationFormat>Widescreen</PresentationFormat>
  <Paragraphs>212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Shlok Kalani</cp:lastModifiedBy>
  <cp:revision>4</cp:revision>
  <dcterms:created xsi:type="dcterms:W3CDTF">2013-01-27T09:14:16Z</dcterms:created>
  <dcterms:modified xsi:type="dcterms:W3CDTF">2026-09-28T18:20:56Z</dcterms:modified>
  <cp:category/>
</cp:coreProperties>
</file>